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2"/>
    <p:sldId id="257" r:id="rId3"/>
    <p:sldId id="258" r:id="rId4"/>
    <p:sldId id="259" r:id="rId5"/>
    <p:sldId id="260" r:id="rId6"/>
    <p:sldId id="261" r:id="rId7"/>
    <p:sldId id="268" r:id="rId8"/>
    <p:sldId id="263" r:id="rId9"/>
    <p:sldId id="264" r:id="rId10"/>
    <p:sldId id="265" r:id="rId11"/>
    <p:sldId id="266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71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27" y="0"/>
            <a:ext cx="12188952" cy="6858000"/>
          </a:xfrm>
          <a:prstGeom prst="rect">
            <a:avLst/>
          </a:prstGeom>
          <a:solidFill>
            <a:srgbClr val="06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Isosceles Triangle 2"/>
          <p:cNvSpPr/>
          <p:nvPr/>
        </p:nvSpPr>
        <p:spPr>
          <a:xfrm>
            <a:off x="8686800" y="0"/>
            <a:ext cx="3502152" cy="3200400"/>
          </a:xfrm>
          <a:prstGeom prst="triangle">
            <a:avLst/>
          </a:prstGeom>
          <a:solidFill>
            <a:srgbClr val="10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28600" y="3566160"/>
            <a:ext cx="119603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00C2E0"/>
                </a:solidFill>
                <a:latin typeface="Calibri Light"/>
              </a:rPr>
              <a:t>Introduction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Calibri"/>
              </a:rPr>
              <a:t>Cloud Computing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B0D4F1"/>
                </a:solidFill>
                <a:latin typeface="Calibri Light"/>
              </a:rPr>
              <a:t>Concepts, Models, Services &amp; Real-World Applications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6035040"/>
            <a:ext cx="10972800" cy="4572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33213" y="4174850"/>
            <a:ext cx="4507174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Roll No.:</a:t>
            </a:r>
          </a:p>
          <a:p>
            <a:r>
              <a:rPr lang="en-US" sz="2000" b="1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23-CHE-18</a:t>
            </a:r>
          </a:p>
          <a:p>
            <a:r>
              <a:rPr lang="en-US" sz="2000" b="1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23-CHE-37</a:t>
            </a:r>
          </a:p>
          <a:p>
            <a:r>
              <a:rPr lang="en-US" sz="2000" b="1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23-CHE-39</a:t>
            </a:r>
            <a:endParaRPr lang="en-US" sz="2000" b="1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352574" y="4299040"/>
            <a:ext cx="326352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Name:</a:t>
            </a:r>
          </a:p>
          <a:p>
            <a:r>
              <a:rPr lang="en-US" sz="2000" b="1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Muhammad Mustafa Akhlas</a:t>
            </a:r>
          </a:p>
          <a:p>
            <a:r>
              <a:rPr lang="en-US" sz="2000" b="1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Abdul Mueez</a:t>
            </a:r>
          </a:p>
          <a:p>
            <a:r>
              <a:rPr lang="en-US" sz="2000" b="1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Muhammad </a:t>
            </a:r>
            <a:r>
              <a:rPr lang="en-US" sz="2000" b="1" dirty="0" err="1" smtClean="0">
                <a:solidFill>
                  <a:schemeClr val="bg1"/>
                </a:solidFill>
                <a:latin typeface="Arial Narrow" panose="020B0606020202030204" pitchFamily="34" charset="0"/>
              </a:rPr>
              <a:t>usman</a:t>
            </a:r>
            <a:endParaRPr lang="en-US" sz="2000" b="1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9129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6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2860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What We'll Cover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56692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0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29768" y="1618488"/>
            <a:ext cx="457200" cy="45720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9768" y="16184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58191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264A"/>
                </a:solidFill>
                <a:latin typeface="Calibri"/>
              </a:rPr>
              <a:t>What is Cloud Computing?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1168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Definition, history &amp; core idea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417320"/>
            <a:ext cx="56692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0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73368" y="1618488"/>
            <a:ext cx="457200" cy="45720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3368" y="16184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158191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264A"/>
                </a:solidFill>
                <a:latin typeface="Calibri"/>
              </a:rPr>
              <a:t>Key Characteristics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01168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5 essential traits of cloud services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971800"/>
            <a:ext cx="56692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0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9768" y="3172968"/>
            <a:ext cx="457200" cy="45720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9768" y="31729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13639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264A"/>
                </a:solidFill>
                <a:latin typeface="Calibri"/>
              </a:rPr>
              <a:t>Service Models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56616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IaaS, PaaS &amp; SaaS explained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2971800"/>
            <a:ext cx="56692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0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73368" y="3172968"/>
            <a:ext cx="457200" cy="45720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73368" y="31729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313639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264A"/>
                </a:solidFill>
                <a:latin typeface="Calibri"/>
              </a:rPr>
              <a:t>Deployment Models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56616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Public, Private, Hybrid &amp; Community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526280"/>
            <a:ext cx="56692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0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29768" y="4727448"/>
            <a:ext cx="457200" cy="45720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29768" y="47274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469087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264A"/>
                </a:solidFill>
                <a:latin typeface="Calibri"/>
              </a:rPr>
              <a:t>Benefits &amp; Challenges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512064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Why cloud? What are the trade-offs?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4526280"/>
            <a:ext cx="56692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0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373368" y="4727448"/>
            <a:ext cx="457200" cy="45720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73368" y="47274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469087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264A"/>
                </a:solidFill>
                <a:latin typeface="Calibri"/>
              </a:rPr>
              <a:t>Real-World Applications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512064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Cloud in data science &amp; industry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6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286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What is Cloud Computing?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11247120" cy="1280160"/>
          </a:xfrm>
          <a:prstGeom prst="rect">
            <a:avLst/>
          </a:prstGeom>
          <a:solidFill>
            <a:srgbClr val="E8F4FD"/>
          </a:solidFill>
          <a:ln w="19050">
            <a:solidFill>
              <a:srgbClr val="00C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06264A"/>
                </a:solidFill>
                <a:latin typeface="Calibri Light"/>
              </a:rPr>
              <a:t>"Cloud computing is the on-demand delivery of IT resources — compute power, storage, databases, networking, and software — over the Internet, with pay-as-you-go pricing."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788920"/>
            <a:ext cx="3657600" cy="3566160"/>
          </a:xfrm>
          <a:prstGeom prst="rect">
            <a:avLst/>
          </a:prstGeom>
          <a:solidFill>
            <a:srgbClr val="10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9260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Calibri"/>
              </a:rPr>
              <a:t>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6616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The Internet
as Infrastructure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38912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Calibri"/>
              </a:rPr>
              <a:t>Instead of owning data centers, businesses rent capacity from cloud providers.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98264" y="2788920"/>
            <a:ext cx="3657600" cy="356616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5424" y="29260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356616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On-Demand
Resources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438912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Calibri"/>
              </a:rPr>
              <a:t>Provision hundreds of servers in minutes; release them just as fast.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93608" y="2788920"/>
            <a:ext cx="3657600" cy="35661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30768" y="29260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Calibri"/>
              </a:rPr>
              <a:t>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0768" y="356616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Pay-As-You-Go
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6488" y="438912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Calibri"/>
              </a:rPr>
              <a:t>Convert large capital expenses (CapEx) into flexible operating expenses (OpEx).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0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0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2860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5 Essential Characteristics  (NIST Definition)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2240280" cy="5074920"/>
          </a:xfrm>
          <a:prstGeom prst="rect">
            <a:avLst/>
          </a:prstGeom>
          <a:solidFill>
            <a:srgbClr val="10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88720" y="1508760"/>
            <a:ext cx="594360" cy="5943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97864" y="1536192"/>
            <a:ext cx="5760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05AA8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2286000"/>
            <a:ext cx="208483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On-Demand
Self-Service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3246120"/>
            <a:ext cx="2029968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  <a:latin typeface="Calibri"/>
              </a:rPr>
              <a:t>Users provision computing resources automatically without human interaction from the service provider.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1325880"/>
            <a:ext cx="2240280" cy="507492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566160" y="1508760"/>
            <a:ext cx="594360" cy="5943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75304" y="1536192"/>
            <a:ext cx="5760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C2E0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16352" y="2286000"/>
            <a:ext cx="208483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Broad Network
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52928" y="3246120"/>
            <a:ext cx="2029968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  <a:latin typeface="Calibri"/>
              </a:rPr>
              <a:t>Capabilities available over the network, accessible via standard mechanisms — phones, tablets, laptops.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0" y="1325880"/>
            <a:ext cx="2240280" cy="5074920"/>
          </a:xfrm>
          <a:prstGeom prst="rect">
            <a:avLst/>
          </a:prstGeom>
          <a:solidFill>
            <a:srgbClr val="06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943600" y="1508760"/>
            <a:ext cx="594360" cy="5943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52744" y="1536192"/>
            <a:ext cx="5760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6264A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93792" y="2286000"/>
            <a:ext cx="208483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Resource
Pooling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0368" y="3246120"/>
            <a:ext cx="2029968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  <a:latin typeface="Calibri"/>
              </a:rPr>
              <a:t>Provider's resources pooled to serve multiple consumers using a multi-tenant model, dynamically assigned.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80" y="1325880"/>
            <a:ext cx="2240280" cy="5074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321040" y="1508760"/>
            <a:ext cx="594360" cy="5943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30184" y="1536192"/>
            <a:ext cx="5760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A623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71232" y="2286000"/>
            <a:ext cx="208483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Rapid
Elasticity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07808" y="3246120"/>
            <a:ext cx="2029968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  <a:latin typeface="Calibri"/>
              </a:rPr>
              <a:t>Capabilities can be elastically provisioned and released — scale out for peaks, scale in to save costs.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75520" y="1325880"/>
            <a:ext cx="2240280" cy="5074920"/>
          </a:xfrm>
          <a:prstGeom prst="rect">
            <a:avLst/>
          </a:prstGeom>
          <a:solidFill>
            <a:srgbClr val="288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0698480" y="1508760"/>
            <a:ext cx="594360" cy="5943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707624" y="1536192"/>
            <a:ext cx="5760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88B50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48672" y="2286000"/>
            <a:ext cx="208483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Measured
Service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85248" y="3246120"/>
            <a:ext cx="2029968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  <a:latin typeface="Calibri"/>
              </a:rPr>
              <a:t>Resource usage monitored, controlled &amp; reported — providing transparency for both provider and consumer.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6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286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Cloud Service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80160"/>
            <a:ext cx="11521440" cy="1664208"/>
          </a:xfrm>
          <a:prstGeom prst="rect">
            <a:avLst/>
          </a:prstGeom>
          <a:solidFill>
            <a:srgbClr val="06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417319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SaaS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389888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Software as a 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47088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Ready-to-use applications delivered via browser. No installation, no maintenance.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0" y="1371600"/>
            <a:ext cx="27432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89320" y="137160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F4FF"/>
                </a:solidFill>
                <a:latin typeface="Calibri"/>
              </a:rPr>
              <a:t>Examples: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1664207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Calibri"/>
              </a:rPr>
              <a:t>Gmail  •  Salesforce  •  Microsoft 365  •  Zoom  •  Slack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2148839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ECFF"/>
                </a:solidFill>
                <a:latin typeface="Calibri"/>
              </a:rPr>
              <a:t>You manage: Nothing  |  Provider manages: Everything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063239"/>
            <a:ext cx="11521440" cy="1664208"/>
          </a:xfrm>
          <a:prstGeom prst="rect">
            <a:avLst/>
          </a:prstGeom>
          <a:solidFill>
            <a:srgbClr val="10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3200399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PaaS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172968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Platform as a Service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630168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A development platform — OS, runtime, databases, tools — managed for you.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60" y="3154679"/>
            <a:ext cx="27432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89320" y="3154679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F4FF"/>
                </a:solidFill>
                <a:latin typeface="Calibri"/>
              </a:rPr>
              <a:t>Examples: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3447287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Calibri"/>
              </a:rPr>
              <a:t>Heroku  •  Google App Engine  •  AWS Elastic Beanstalk  •  Azure App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393192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ECFF"/>
                </a:solidFill>
                <a:latin typeface="Calibri"/>
              </a:rPr>
              <a:t>You manage: Applications &amp; Data  |  Provider manages: Runtime, OS, Infrastructure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846320"/>
            <a:ext cx="11521440" cy="1664208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98348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IaaS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956048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Infrastructure as a 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5413248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Virtualized compute, storage and networking — the raw building blocks of IT.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52160" y="4937759"/>
            <a:ext cx="27432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89320" y="4937759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F4FF"/>
                </a:solidFill>
                <a:latin typeface="Calibri"/>
              </a:rPr>
              <a:t>Examples: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9320" y="5230368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Calibri"/>
              </a:rPr>
              <a:t>AWS EC2  •  Azure VMs  •  Google Compute Engine  •  DigitalOcean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9320" y="571500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ECFF"/>
                </a:solidFill>
                <a:latin typeface="Calibri"/>
              </a:rPr>
              <a:t>You manage: OS, Apps, Data  |  Provider manages: Physical hardware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6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286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Cloud Deployment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98448"/>
            <a:ext cx="3749039" cy="5120640"/>
          </a:xfrm>
          <a:prstGeom prst="rect">
            <a:avLst/>
          </a:prstGeom>
          <a:solidFill>
            <a:srgbClr val="10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499616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FFFFFF"/>
                </a:solidFill>
                <a:latin typeface="Calibri"/>
              </a:rPr>
              <a:t>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5856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Public Cloud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852928"/>
            <a:ext cx="329184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990088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Infrastructure owned &amp; operated by a third-party cloud provider, shared across many customers.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4453128"/>
            <a:ext cx="329184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4590288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F8FF"/>
                </a:solidFill>
                <a:latin typeface="Calibri"/>
              </a:rPr>
              <a:t>Best for: Startups, scalable workloads, cost efficiency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23036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AWS  •  Microsoft Azure  •  Google Cloud Platform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5968" y="1298448"/>
            <a:ext cx="3749039" cy="5120640"/>
          </a:xfrm>
          <a:prstGeom prst="rect">
            <a:avLst/>
          </a:prstGeom>
          <a:solidFill>
            <a:srgbClr val="06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53128" y="1499616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FFFFFF"/>
                </a:solidFill>
                <a:latin typeface="Calibri"/>
              </a:rPr>
              <a:t>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3128" y="225856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Private Cloud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44568" y="2852928"/>
            <a:ext cx="329184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98848" y="2990088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Cloud infrastructure operated solely for a single organization. Hosted on-premises or by a dedicated provider.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44568" y="4453128"/>
            <a:ext cx="329184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98848" y="4590288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F8FF"/>
                </a:solidFill>
                <a:latin typeface="Calibri"/>
              </a:rPr>
              <a:t>Best for: Regulated industries — banking, healthcare, government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8848" y="523036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VMware  •  OpenStack  •  IBM Cloud Private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66176" y="1298448"/>
            <a:ext cx="3749039" cy="512064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03336" y="1499616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FFFFFF"/>
                </a:solidFill>
                <a:latin typeface="Calibri"/>
              </a:rPr>
              <a:t>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03336" y="225856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Hybrid Cloud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94776" y="2852928"/>
            <a:ext cx="329184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49056" y="2990088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Combines public and private clouds, allowing data and applications to move between them seamlessly.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94776" y="4453128"/>
            <a:ext cx="329184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49056" y="4590288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F8FF"/>
                </a:solidFill>
                <a:latin typeface="Calibri"/>
              </a:rPr>
              <a:t>Best for: Enterprises needing flexibility &amp; compliance together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49056" y="523036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Azure Arc  •  AWS Outposts  •  Google Anthos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0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0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286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Why Move to the Cloud?  Key Benefits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98448"/>
            <a:ext cx="3749039" cy="2423160"/>
          </a:xfrm>
          <a:prstGeom prst="rect">
            <a:avLst/>
          </a:prstGeom>
          <a:solidFill>
            <a:srgbClr val="E8F4FD"/>
          </a:solidFill>
          <a:ln w="9525">
            <a:solidFill>
              <a:srgbClr val="C0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484632" y="1481328"/>
            <a:ext cx="594360" cy="594360"/>
          </a:xfrm>
          <a:prstGeom prst="ellipse">
            <a:avLst/>
          </a:prstGeom>
          <a:solidFill>
            <a:srgbClr val="10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4632" y="148132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527048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264A"/>
                </a:solidFill>
                <a:latin typeface="Calibri"/>
              </a:rPr>
              <a:t>Cost Savings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" y="2212848"/>
            <a:ext cx="3401568" cy="36576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4632" y="2322576"/>
            <a:ext cx="3429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Eliminate upfront hardware costs. Pay only for what you use. Reduce IT staff overhead.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9392" y="1298448"/>
            <a:ext cx="3749039" cy="2423160"/>
          </a:xfrm>
          <a:prstGeom prst="rect">
            <a:avLst/>
          </a:prstGeom>
          <a:solidFill>
            <a:srgbClr val="E8F4FD"/>
          </a:solidFill>
          <a:ln w="9525">
            <a:solidFill>
              <a:srgbClr val="C0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443983" y="1481328"/>
            <a:ext cx="594360" cy="594360"/>
          </a:xfrm>
          <a:prstGeom prst="ellipse">
            <a:avLst/>
          </a:prstGeom>
          <a:solidFill>
            <a:srgbClr val="10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43983" y="148132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93792" y="1527048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264A"/>
                </a:solidFill>
                <a:latin typeface="Calibri"/>
              </a:rPr>
              <a:t>Scalability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43983" y="2212848"/>
            <a:ext cx="3401568" cy="36576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43983" y="2322576"/>
            <a:ext cx="3429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Scale resources up or down in minutes to match demand — no over-provisioning.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38744" y="3950208"/>
            <a:ext cx="3749039" cy="2423160"/>
          </a:xfrm>
          <a:prstGeom prst="rect">
            <a:avLst/>
          </a:prstGeom>
          <a:solidFill>
            <a:srgbClr val="E8F4FD"/>
          </a:solidFill>
          <a:ln w="9525">
            <a:solidFill>
              <a:srgbClr val="C0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403336" y="4133088"/>
            <a:ext cx="594360" cy="594360"/>
          </a:xfrm>
          <a:prstGeom prst="ellipse">
            <a:avLst/>
          </a:prstGeom>
          <a:solidFill>
            <a:srgbClr val="10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03336" y="413308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53144" y="4178808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264A"/>
                </a:solidFill>
                <a:latin typeface="Calibri"/>
              </a:rPr>
              <a:t>Speed &amp; Agility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03336" y="4864608"/>
            <a:ext cx="3401568" cy="36576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03336" y="4974336"/>
            <a:ext cx="3429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Deploy global infrastructure in minutes. Innovate faster with ready-made services.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950208"/>
            <a:ext cx="3749039" cy="2423160"/>
          </a:xfrm>
          <a:prstGeom prst="rect">
            <a:avLst/>
          </a:prstGeom>
          <a:solidFill>
            <a:srgbClr val="E8F4FD"/>
          </a:solidFill>
          <a:ln w="9525">
            <a:solidFill>
              <a:srgbClr val="C0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84632" y="4133088"/>
            <a:ext cx="594360" cy="594360"/>
          </a:xfrm>
          <a:prstGeom prst="ellipse">
            <a:avLst/>
          </a:prstGeom>
          <a:solidFill>
            <a:srgbClr val="10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4632" y="413308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4178808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264A"/>
                </a:solidFill>
                <a:latin typeface="Calibri"/>
              </a:rPr>
              <a:t>Global Reach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4632" y="4864608"/>
            <a:ext cx="3401568" cy="36576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4632" y="4974336"/>
            <a:ext cx="3429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Deploy across data centers worldwide. Serve users with low latency, anywhere.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70247" y="3956213"/>
            <a:ext cx="3749039" cy="2423160"/>
          </a:xfrm>
          <a:prstGeom prst="rect">
            <a:avLst/>
          </a:prstGeom>
          <a:solidFill>
            <a:srgbClr val="E8F4FD"/>
          </a:solidFill>
          <a:ln w="9525">
            <a:solidFill>
              <a:srgbClr val="C0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4535423" y="4178808"/>
            <a:ext cx="594360" cy="594360"/>
          </a:xfrm>
          <a:prstGeom prst="ellipse">
            <a:avLst/>
          </a:prstGeom>
          <a:solidFill>
            <a:srgbClr val="10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35423" y="417880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3787" y="4201668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6264A"/>
                </a:solidFill>
                <a:latin typeface="Calibri"/>
              </a:rPr>
              <a:t>Managed Services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98265" y="4870613"/>
            <a:ext cx="3401568" cy="36576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398265" y="4974336"/>
            <a:ext cx="3429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64748B"/>
                </a:solidFill>
                <a:latin typeface="Calibri"/>
              </a:rPr>
              <a:t>Focus on your app — let the provider handle patching, backups, and hardware.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38744" y="1306624"/>
            <a:ext cx="3749039" cy="2423160"/>
          </a:xfrm>
          <a:prstGeom prst="rect">
            <a:avLst/>
          </a:prstGeom>
          <a:solidFill>
            <a:srgbClr val="E8F4FD"/>
          </a:solidFill>
          <a:ln w="9525">
            <a:solidFill>
              <a:srgbClr val="C0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8403336" y="1380322"/>
            <a:ext cx="594360" cy="594360"/>
          </a:xfrm>
          <a:prstGeom prst="ellipse">
            <a:avLst/>
          </a:prstGeom>
          <a:solidFill>
            <a:srgbClr val="10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03336" y="1489504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solidFill>
                  <a:srgbClr val="FFFFFF"/>
                </a:solidFill>
                <a:latin typeface="Calibri"/>
              </a:rPr>
              <a:t>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53144" y="1521575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6264A"/>
                </a:solidFill>
                <a:latin typeface="Calibri"/>
              </a:rPr>
              <a:t>Security &amp; Compliance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03336" y="2221021"/>
            <a:ext cx="3401568" cy="36576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403336" y="2344400"/>
            <a:ext cx="3429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64748B"/>
                </a:solidFill>
                <a:latin typeface="Calibri"/>
              </a:rPr>
              <a:t>Major providers invest billions in security. Certifications: ISO, SOC 2, HIPAA, GDPR.</a:t>
            </a:r>
          </a:p>
        </p:txBody>
      </p:sp>
    </p:spTree>
    <p:extLst>
      <p:ext uri="{BB962C8B-B14F-4D97-AF65-F5344CB8AC3E}">
        <p14:creationId xmlns:p14="http://schemas.microsoft.com/office/powerpoint/2010/main" val="3450551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286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Cloud Challenges &amp; Considerations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98448"/>
            <a:ext cx="5669280" cy="1627632"/>
          </a:xfrm>
          <a:prstGeom prst="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298448"/>
            <a:ext cx="109728" cy="1627632"/>
          </a:xfrm>
          <a:prstGeom prst="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48132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463039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AAAA"/>
                </a:solidFill>
                <a:latin typeface="Calibri"/>
              </a:rPr>
              <a:t>Security &amp; Privacy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938528"/>
            <a:ext cx="4480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D8F0"/>
                </a:solidFill>
                <a:latin typeface="Calibri"/>
              </a:rPr>
              <a:t>Data breaches, insider threats, shared infrastructure risks. Who owns your data?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298448"/>
            <a:ext cx="5669280" cy="1627632"/>
          </a:xfrm>
          <a:prstGeom prst="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0" y="1298448"/>
            <a:ext cx="109728" cy="1627632"/>
          </a:xfrm>
          <a:prstGeom prst="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60" y="148132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1463039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AAAA"/>
                </a:solidFill>
                <a:latin typeface="Calibri"/>
              </a:rPr>
              <a:t>Downtime &amp; Reliability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1938528"/>
            <a:ext cx="4480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D8F0"/>
                </a:solidFill>
                <a:latin typeface="Calibri"/>
              </a:rPr>
              <a:t>Even top providers face outages. Mission-critical apps need resilience architecture.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081528"/>
            <a:ext cx="5669280" cy="1627632"/>
          </a:xfrm>
          <a:prstGeom prst="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65760" y="3081528"/>
            <a:ext cx="109728" cy="1627632"/>
          </a:xfrm>
          <a:prstGeom prst="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326440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24612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AAAA"/>
                </a:solidFill>
                <a:latin typeface="Calibri"/>
              </a:rPr>
              <a:t>Cost Management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721608"/>
            <a:ext cx="4480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D8F0"/>
                </a:solidFill>
                <a:latin typeface="Calibri"/>
              </a:rPr>
              <a:t>Cloud costs can spiral without governance. Unexpected egress fees &amp; idle resources.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3081528"/>
            <a:ext cx="5669280" cy="1627632"/>
          </a:xfrm>
          <a:prstGeom prst="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09360" y="3081528"/>
            <a:ext cx="109728" cy="1627632"/>
          </a:xfrm>
          <a:prstGeom prst="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37960" y="326440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324612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AAAA"/>
                </a:solidFill>
                <a:latin typeface="Calibri"/>
              </a:rPr>
              <a:t>Vendor Lock-in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80" y="3721608"/>
            <a:ext cx="4480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D8F0"/>
                </a:solidFill>
                <a:latin typeface="Calibri"/>
              </a:rPr>
              <a:t>Proprietary APIs make switching providers expensive and complex.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864608"/>
            <a:ext cx="5669280" cy="1627632"/>
          </a:xfrm>
          <a:prstGeom prst="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65760" y="4864608"/>
            <a:ext cx="109728" cy="1627632"/>
          </a:xfrm>
          <a:prstGeom prst="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4360" y="504748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50292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AAAA"/>
                </a:solidFill>
                <a:latin typeface="Calibri"/>
              </a:rPr>
              <a:t>Compliance &amp; Regulations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5504688"/>
            <a:ext cx="4480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D8F0"/>
                </a:solidFill>
                <a:latin typeface="Calibri"/>
              </a:rPr>
              <a:t>GDPR, HIPAA, data sovereignty laws restrict where data can reside and how it's processed.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4864608"/>
            <a:ext cx="5669280" cy="1627632"/>
          </a:xfrm>
          <a:prstGeom prst="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309360" y="4864608"/>
            <a:ext cx="109728" cy="1627632"/>
          </a:xfrm>
          <a:prstGeom prst="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37960" y="504748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69480" y="50292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AAAA"/>
                </a:solidFill>
                <a:latin typeface="Calibri"/>
              </a:rPr>
              <a:t>Connectivity Dependency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5504688"/>
            <a:ext cx="4480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D8F0"/>
                </a:solidFill>
                <a:latin typeface="Calibri"/>
              </a:rPr>
              <a:t>Cloud requires reliable internet. Poor connectivity = degraded performance or outages.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6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286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Cloud Computing in Data Science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98448"/>
            <a:ext cx="557784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0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6264A"/>
                </a:solidFill>
                <a:latin typeface="Calibri"/>
              </a:rPr>
              <a:t>Why Data Scientists Love the Cloud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05AA8"/>
                </a:solidFill>
                <a:latin typeface="Calibri"/>
              </a:rPr>
              <a:t>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48839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On-demand GPU/TPU clusters for deep learning model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61487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05AA8"/>
                </a:solidFill>
                <a:latin typeface="Calibri"/>
              </a:rPr>
              <a:t>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807207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Petabyte-scale storage for datasets (S3, BigQuery, ADLS)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19856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05AA8"/>
                </a:solidFill>
                <a:latin typeface="Calibri"/>
              </a:rPr>
              <a:t>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465575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Managed ML platforms: SageMaker, Vertex AI, Azure 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078224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05AA8"/>
                </a:solidFill>
                <a:latin typeface="Calibri"/>
              </a:rPr>
              <a:t>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123944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Scalable ETL pipelines and real-time streaming (Spark, Dataflow)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736592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05AA8"/>
                </a:solidFill>
                <a:latin typeface="Calibri"/>
              </a:rPr>
              <a:t>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78231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BI dashboards and analytics tools accessible from any device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394959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05AA8"/>
                </a:solidFill>
                <a:latin typeface="Calibri"/>
              </a:rPr>
              <a:t>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40679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Collaboration — teams share notebooks, data, and models globally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1298448"/>
            <a:ext cx="5577840" cy="5120640"/>
          </a:xfrm>
          <a:prstGeom prst="rect">
            <a:avLst/>
          </a:prstGeom>
          <a:solidFill>
            <a:srgbClr val="06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46520" y="14630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Major Cloud Providers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084831"/>
            <a:ext cx="5212080" cy="731520"/>
          </a:xfrm>
          <a:prstGeom prst="rect">
            <a:avLst/>
          </a:prstGeom>
          <a:solidFill>
            <a:srgbClr val="103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37960" y="215798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E0"/>
                </a:solidFill>
                <a:latin typeface="Calibri"/>
              </a:rPr>
              <a:t>AWS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2468879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D4F1"/>
                </a:solidFill>
                <a:latin typeface="Calibri"/>
              </a:rPr>
              <a:t>Amazon Web Services — market leader, 200+ services, global infrastructure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2926079"/>
            <a:ext cx="5212080" cy="731520"/>
          </a:xfrm>
          <a:prstGeom prst="rect">
            <a:avLst/>
          </a:prstGeom>
          <a:solidFill>
            <a:srgbClr val="103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37960" y="299923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E0"/>
                </a:solidFill>
                <a:latin typeface="Calibri"/>
              </a:rPr>
              <a:t>Microsoft Azure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310127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D4F1"/>
                </a:solidFill>
                <a:latin typeface="Calibri"/>
              </a:rPr>
              <a:t>Deep enterprise integration, strong hybrid cloud, Azure ML &amp; Cognitive Services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3767328"/>
            <a:ext cx="5212080" cy="731520"/>
          </a:xfrm>
          <a:prstGeom prst="rect">
            <a:avLst/>
          </a:prstGeom>
          <a:solidFill>
            <a:srgbClr val="103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37960" y="384048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E0"/>
                </a:solidFill>
                <a:latin typeface="Calibri"/>
              </a:rPr>
              <a:t>Google Cloud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415137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D4F1"/>
                </a:solidFill>
                <a:latin typeface="Calibri"/>
              </a:rPr>
              <a:t>AI/ML leadership, BigQuery for analytics, TensorFlow ecosystem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4608576"/>
            <a:ext cx="5212080" cy="731520"/>
          </a:xfrm>
          <a:prstGeom prst="rect">
            <a:avLst/>
          </a:prstGeom>
          <a:solidFill>
            <a:srgbClr val="103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37960" y="468172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E0"/>
                </a:solidFill>
                <a:latin typeface="Calibri"/>
              </a:rPr>
              <a:t>IBM Cloud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499262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D4F1"/>
                </a:solidFill>
                <a:latin typeface="Calibri"/>
              </a:rPr>
              <a:t>Enterprise &amp; hybrid focus, Watson AI, regulated industry expertise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5449824"/>
            <a:ext cx="5212080" cy="731520"/>
          </a:xfrm>
          <a:prstGeom prst="rect">
            <a:avLst/>
          </a:prstGeom>
          <a:solidFill>
            <a:srgbClr val="103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37960" y="552297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E0"/>
                </a:solidFill>
                <a:latin typeface="Calibri"/>
              </a:rPr>
              <a:t>Alibaba Cloud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583387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D4F1"/>
                </a:solidFill>
                <a:latin typeface="Calibri"/>
              </a:rPr>
              <a:t>Leading provider in Asia-Pacific, strong e-commerce &amp; logistics backbone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0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0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2860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Real-World Examples of Cloud Computing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98448"/>
            <a:ext cx="3749039" cy="2359152"/>
          </a:xfrm>
          <a:prstGeom prst="rect">
            <a:avLst/>
          </a:prstGeom>
          <a:solidFill>
            <a:srgbClr val="06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484632" y="1481328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4632" y="1481328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6264A"/>
                </a:solidFill>
                <a:latin typeface="Calibri"/>
              </a:rPr>
              <a:t>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19" y="1517904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Google Drive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" y="2139696"/>
            <a:ext cx="3401568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4632" y="2258568"/>
            <a:ext cx="3456432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Cloud file storage &amp; collaboration platform. Store, share, and edit Docs, Sheets, and Slides — anywhere, any device.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3401568"/>
            <a:ext cx="3456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0ECFF"/>
                </a:solidFill>
                <a:latin typeface="Calibri"/>
              </a:rPr>
              <a:t>SaaS  •  Google Cloud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298448"/>
            <a:ext cx="3749039" cy="2359152"/>
          </a:xfrm>
          <a:prstGeom prst="rect">
            <a:avLst/>
          </a:prstGeom>
          <a:solidFill>
            <a:srgbClr val="065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370831" y="1481328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70831" y="1481328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654A4"/>
                </a:solidFill>
                <a:latin typeface="Calibri"/>
              </a:rPr>
              <a:t>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1517904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iCloud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70831" y="2139696"/>
            <a:ext cx="3401568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70831" y="2258568"/>
            <a:ext cx="3456432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Apple's cloud platform for syncing photos, contacts, documents, and backups across all Apple devices seamlessly.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1" y="3401568"/>
            <a:ext cx="3456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0ECFF"/>
                </a:solidFill>
                <a:latin typeface="Calibri"/>
              </a:rPr>
              <a:t>SaaS  •  Apple Infrastructure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92440" y="1298448"/>
            <a:ext cx="3749039" cy="2359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257031" y="1481328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57031" y="1481328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78D4"/>
                </a:solidFill>
                <a:latin typeface="Calibri"/>
              </a:rPr>
              <a:t>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1517904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Microsoft OneDrive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57031" y="2139696"/>
            <a:ext cx="3401568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57031" y="2258568"/>
            <a:ext cx="3456432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Cloud storage integrated with Microsoft 365. Real-time co-authoring, versioning, and enterprise-grade sharing.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7031" y="3401568"/>
            <a:ext cx="3456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0ECFF"/>
                </a:solidFill>
                <a:latin typeface="Calibri"/>
              </a:rPr>
              <a:t>SaaS  •  Microsoft Azure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767328"/>
            <a:ext cx="3749039" cy="235915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84632" y="3950208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4632" y="3950208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7348"/>
                </a:solidFill>
                <a:latin typeface="Calibri"/>
              </a:rPr>
              <a:t>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19" y="3986784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Cloud Gaming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4632" y="4608576"/>
            <a:ext cx="3401568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4632" y="4727448"/>
            <a:ext cx="3456432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Games stream from powerful cloud servers to any screen. No console needed. Examples: NVIDIA GeForce NOW, Xbox Cloud Gaming, PlayStation Now.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" y="5870448"/>
            <a:ext cx="3456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0ECFF"/>
                </a:solidFill>
                <a:latin typeface="Calibri"/>
              </a:rPr>
              <a:t>IaaS / SaaS  •  GPU Cloud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06240" y="3767328"/>
            <a:ext cx="3749039" cy="2359152"/>
          </a:xfrm>
          <a:prstGeom prst="rect">
            <a:avLst/>
          </a:prstGeom>
          <a:solidFill>
            <a:srgbClr val="E2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4370831" y="3950208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370831" y="3950208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2521A"/>
                </a:solidFill>
                <a:latin typeface="Calibri"/>
              </a:rPr>
              <a:t>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74920" y="3986784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Apache Spark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70831" y="4608576"/>
            <a:ext cx="3401568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370831" y="4727448"/>
            <a:ext cx="3456432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Open-source distributed computing engine. Runs on cloud clusters (AWS EMR, Databricks, GCP Dataproc) to process petabytes of data in parallel.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70831" y="5870448"/>
            <a:ext cx="3456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0ECFF"/>
                </a:solidFill>
                <a:latin typeface="Calibri"/>
              </a:rPr>
              <a:t>PaaS / IaaS  •  Big Data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92440" y="3767328"/>
            <a:ext cx="3749039" cy="2359152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8257031" y="3950208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257031" y="3950208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B21A8"/>
                </a:solidFill>
                <a:latin typeface="Calibri"/>
              </a:rPr>
              <a:t>🤖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61119" y="3986784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AI &amp; ML Services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57031" y="4608576"/>
            <a:ext cx="3401568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257031" y="4727448"/>
            <a:ext cx="3456432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Cloud-hosted AI APIs — ChatGPT (Azure OpenAI), Google Vertex AI, AWS SageMaker — enabling ML without managing infrastructure.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57031" y="5870448"/>
            <a:ext cx="3456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0ECFF"/>
                </a:solidFill>
                <a:latin typeface="Calibri"/>
              </a:rPr>
              <a:t>PaaS / SaaS  •  AI Cloud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Isosceles Triangle 3"/>
          <p:cNvSpPr/>
          <p:nvPr/>
        </p:nvSpPr>
        <p:spPr>
          <a:xfrm>
            <a:off x="8686800" y="0"/>
            <a:ext cx="3502152" cy="3200400"/>
          </a:xfrm>
          <a:prstGeom prst="triangle">
            <a:avLst/>
          </a:prstGeom>
          <a:solidFill>
            <a:srgbClr val="10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C2E0"/>
                </a:solidFill>
                <a:latin typeface="Calibri Light"/>
              </a:rP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8686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Cloud Computing
Summary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606040"/>
            <a:ext cx="77724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E6FF"/>
                </a:solidFill>
                <a:latin typeface="Calibri"/>
              </a:rPr>
              <a:t>☁  Cloud = on-demand IT resources over the internet, pay-as-you-go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1071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E6FF"/>
                </a:solidFill>
                <a:latin typeface="Calibri"/>
              </a:rPr>
              <a:t>🧩  Three service models: IaaS, PaaS, SaaS — each offering different control levels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32504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E6FF"/>
                </a:solidFill>
                <a:latin typeface="Calibri"/>
              </a:rPr>
              <a:t>🌐  Three deployment options: Public, Private &amp; Hybrid cloud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54296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E6FF"/>
                </a:solidFill>
                <a:latin typeface="Calibri"/>
              </a:rPr>
              <a:t>⚡  Key benefits: cost savings, scalability, speed, global reach, managed services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276088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E6FF"/>
                </a:solidFill>
                <a:latin typeface="Calibri"/>
              </a:rPr>
              <a:t>⚠  Challenges: security, compliance, vendor lock-in, cost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8978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E6FF"/>
                </a:solidFill>
                <a:latin typeface="Calibri"/>
              </a:rPr>
              <a:t>🔬  Cloud is the backbone of modern data science and AI/ML workloads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92240"/>
            <a:ext cx="10789920" cy="36576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656539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70AAD8"/>
                </a:solidFill>
                <a:latin typeface="Calibri"/>
              </a:rPr>
              <a:t>The cloud is not the future — it is the present infrastructure of the digital world.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1180</Words>
  <Application>Microsoft Office PowerPoint</Application>
  <PresentationFormat>Custom</PresentationFormat>
  <Paragraphs>189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Arial Narrow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Muhammad Hassan</cp:lastModifiedBy>
  <cp:revision>5</cp:revision>
  <dcterms:created xsi:type="dcterms:W3CDTF">2013-01-27T09:14:16Z</dcterms:created>
  <dcterms:modified xsi:type="dcterms:W3CDTF">2026-06-08T21:40:32Z</dcterms:modified>
  <cp:category/>
</cp:coreProperties>
</file>